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7D5CE-50B6-5D47-A465-3394378460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961E9-238E-6E4A-A152-FD46650BE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04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961E9-238E-6E4A-A152-FD46650BEE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2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822960"/>
            <a:ext cx="164592" cy="4526280"/>
          </a:xfrm>
          <a:prstGeom prst="rect">
            <a:avLst/>
          </a:prstGeom>
          <a:solidFill>
            <a:srgbClr val="B89137"/>
          </a:solidFill>
          <a:ln>
            <a:solidFill>
              <a:srgbClr val="B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Agricultural Futures
Final Project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E2ECE2"/>
                </a:solidFill>
                <a:latin typeface="Aptos"/>
              </a:rPr>
              <a:t>Systematic corn-futures trading with technical strategy diversification
and crop-health regime overlays from NASA vegetation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534924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Aptos"/>
              </a:rPr>
              <a:t>Robo Advisors and Systematic Trading</a:t>
            </a:r>
          </a:p>
          <a:p>
            <a:r>
              <a:rPr sz="1500">
                <a:solidFill>
                  <a:srgbClr val="DFEBDF"/>
                </a:solidFill>
                <a:latin typeface="Aptos"/>
              </a:rPr>
              <a:t>James Lawrence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Project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FEBDF"/>
                </a:solidFill>
                <a:latin typeface="Aptos"/>
              </a:rPr>
              <a:t>Motivation and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78992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  <a:latin typeface="Aptos"/>
              </a:defRPr>
            </a:pPr>
            <a:r>
              <a:rPr dirty="0"/>
              <a:t>Goal: maximize risk-adjusted performance trading agricultural futures.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Primary market: corn futures, with wheat futures used for a relative-value pairs sleeve.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Core question: </a:t>
            </a:r>
            <a:r>
              <a:rPr lang="en-US" dirty="0"/>
              <a:t>c</a:t>
            </a:r>
            <a:r>
              <a:rPr dirty="0"/>
              <a:t>an crop-health information improve a diversified systematic strategy portfolio?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Method: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dirty="0"/>
              <a:t>	B</a:t>
            </a:r>
            <a:r>
              <a:rPr dirty="0"/>
              <a:t>uild raw technical sleeves first, then test whether realistic weather-forecast skill adds value.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dirty="0"/>
              <a:t>	Leverage modern toolset for rapid development</a:t>
            </a:r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524F4E-CC77-BA83-A380-EB8BAC8E7461}"/>
              </a:ext>
            </a:extLst>
          </p:cNvPr>
          <p:cNvGrpSpPr/>
          <p:nvPr/>
        </p:nvGrpSpPr>
        <p:grpSpPr>
          <a:xfrm>
            <a:off x="7125746" y="4359560"/>
            <a:ext cx="2654151" cy="2029328"/>
            <a:chOff x="3139397" y="4683988"/>
            <a:chExt cx="2286940" cy="180222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64533CA-6E63-400B-75EF-39D387A56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372"/>
            <a:stretch/>
          </p:blipFill>
          <p:spPr>
            <a:xfrm>
              <a:off x="3609886" y="4683988"/>
              <a:ext cx="1345963" cy="128036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57D9BB-348A-2DA0-838F-BFA371DA5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4854604" y="4783701"/>
              <a:ext cx="571733" cy="53699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BAACC9-6960-FB37-3F4F-B6DE6D24A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0622" y="5879515"/>
              <a:ext cx="643072" cy="6066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B6BD63D-D9E0-55FE-6598-10108496E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9397" y="4719619"/>
              <a:ext cx="571733" cy="6253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301C1-C9FA-B5E7-A7AA-79F81362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675B6C-F817-8563-523B-7C028AF526F3}"/>
              </a:ext>
            </a:extLst>
          </p:cNvPr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63F2B-B442-1875-4AE7-2885562C9A68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B3CA3-D48E-2EFE-7DC8-3EBC908BDEA2}"/>
              </a:ext>
            </a:extLst>
          </p:cNvPr>
          <p:cNvSpPr txBox="1"/>
          <p:nvPr/>
        </p:nvSpPr>
        <p:spPr>
          <a:xfrm>
            <a:off x="411480" y="109728"/>
            <a:ext cx="25805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Agricultural Data</a:t>
            </a:r>
            <a:endParaRPr sz="26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16B73-0216-E14A-17EF-3274B2D94284}"/>
              </a:ext>
            </a:extLst>
          </p:cNvPr>
          <p:cNvSpPr txBox="1"/>
          <p:nvPr/>
        </p:nvSpPr>
        <p:spPr>
          <a:xfrm>
            <a:off x="411480" y="467712"/>
            <a:ext cx="360868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DFEBDF"/>
                </a:solidFill>
                <a:latin typeface="Aptos"/>
              </a:rPr>
              <a:t>Quick look at the data sources and considerations made</a:t>
            </a:r>
            <a:endParaRPr sz="1100" dirty="0">
              <a:solidFill>
                <a:srgbClr val="DFEBDF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FCAF01-75D0-7FE3-068F-E4E5A50F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96"/>
          <a:stretch>
            <a:fillRect/>
          </a:stretch>
        </p:blipFill>
        <p:spPr>
          <a:xfrm>
            <a:off x="539727" y="1903732"/>
            <a:ext cx="5159723" cy="3423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1D4563-BA41-4ADF-4774-C1CE28FD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273" y="1106287"/>
            <a:ext cx="4410382" cy="2791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FF7579-2217-F4BB-039F-DCC5823F2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273" y="3974889"/>
            <a:ext cx="4410382" cy="22833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7111A9-0973-02D4-EF37-5E3BC4362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200" y="1543419"/>
            <a:ext cx="2127565" cy="9021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E173D9-5541-E585-984A-0E4262D0B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8922" y="901586"/>
            <a:ext cx="1140945" cy="114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3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Data And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Prepared caches used by the final notebook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766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Start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End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Corn futures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6,452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2000-07-17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Wheat futures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6,464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2000-07-17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2026-04-30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NDVI daily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9,546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2000-02-18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2026-04-07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Corn + NDVI overlap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6,435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2000-07-17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2026-04-07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Optimization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6,159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2001-10-02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2026-04-07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F5F5F"/>
                </a:solidFill>
                <a:latin typeface="Aptos"/>
              </a:rPr>
              <a:t>The optimization sample is the common NDVI-overlap window where NDVI, futures data, and all raw strategy return series are simultaneously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NASA Signal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FEBDF"/>
                </a:solidFill>
                <a:latin typeface="Aptos"/>
              </a:rPr>
              <a:t>Why the project moved from raw NDVI level to seasonal anomaly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4" y="864206"/>
            <a:ext cx="6583680" cy="5599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188720"/>
            <a:ext cx="42976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r>
              <a:rPr dirty="0"/>
              <a:t>Raw NDVI level is too seasonal to trade directly.</a:t>
            </a:r>
            <a:endParaRPr lang="en-US" dirty="0"/>
          </a:p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Each 16-day MODIS composite is reduced to a regional mean and </a:t>
            </a:r>
            <a:r>
              <a:rPr lang="en-US" dirty="0"/>
              <a:t>forward-filled to a daily index for alignment.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 final signal is a seasonally adjusted anomaly: current NDVI relative to its historical norm for the same point in the crop calendar.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Only April through October are treated as active crop-health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Strategy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Raw strategies first, weather overlay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78992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dirty="0"/>
              <a:t>Trend sleeves: moving-average 10/30, 30/100, and 80/160.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Counter-trend sleeve: buy-the-dip rule based on prior highs and average range.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Volatility sleeve: switch exposure according to the current volatility regime in corn futures.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Pairs sleeves: 5-day, 10-day, and 20-day corn-wheat relative-value trades.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Weather overlay: basic 14-day, advanced 45-day, and expert 90-day crop-health lead windows.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Key Standalone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77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Standalone raw strategy sleeves on the common optimization sample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8412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Sleeve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Sharpe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Cum. Return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Vol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Max DD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vol_regime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0.4671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9.6234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0.3112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-0.5660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ma_10_30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0.3698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4.0804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0.3112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-0.4664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ma_80_160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0.1728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0.1339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0.3113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-0.8763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pairs_10d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0.0849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0.0737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0.1226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-0.4013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countertrend_p2_2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-0.0183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-0.4390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0.1999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-0.7339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ma_30_100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-0.0985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-0.8563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0.3113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Aptos"/>
                        </a:rPr>
                        <a:t>-0.9389</a:t>
                      </a:r>
                    </a:p>
                  </a:txBody>
                  <a:tcPr>
                    <a:solidFill>
                      <a:srgbClr val="F0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4864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F5F5F"/>
                </a:solidFill>
                <a:latin typeface="Aptos"/>
              </a:rPr>
              <a:t>Corn-wheat spread diagnostics were supportive of a pairs test: ADF statistic = -3.9752, p-value = 0.0015.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Why Combine Strategies?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Diversification evidence from the raw return streams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68" y="921569"/>
            <a:ext cx="6498814" cy="55635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188720"/>
            <a:ext cx="42976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r>
              <a:rPr dirty="0"/>
              <a:t>This chart is a correlation matrix of daily raw strategy returns on the common evaluation window.</a:t>
            </a:r>
            <a:endParaRPr lang="en-US" dirty="0"/>
          </a:p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Low or mildly negative correlation means two sleeves can diversify each other.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 pairs sleeve is largely separate from the outright corn sleeves, which makes it useful at the portfolio level.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This is why the project optimizes combinations of strategies instead of picking one winner.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Optimized Raw Combination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Efficient-frontier style search over raw strategy subsets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303520" cy="537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 optimizer searched all non-empty subsets of the raw strategy universe and selected long-only weights that maximized annualized Sharpe.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b="1" dirty="0"/>
              <a:t>Selected sleeves: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 err="1"/>
              <a:t>vol_regime</a:t>
            </a:r>
            <a:r>
              <a:rPr dirty="0"/>
              <a:t>: 36.71%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ma_10_30: 28.09%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pairs_10d: 18.37%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ma_80_160: 16.83%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b="1" dirty="0"/>
              <a:t>Result:</a:t>
            </a:r>
            <a:endParaRPr lang="en-US" b="1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lang="en-US" b="1" dirty="0"/>
              <a:t>	</a:t>
            </a:r>
            <a:r>
              <a:rPr dirty="0"/>
              <a:t>Sharpe 0.6343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cumulative return 6.9749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max drawdown -0.3605.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This outperformed the best raw standalone sleeve (</a:t>
            </a:r>
            <a:r>
              <a:rPr dirty="0" err="1"/>
              <a:t>vol_regime</a:t>
            </a:r>
            <a:r>
              <a:rPr dirty="0"/>
              <a:t> at 0.4671 Sharpe).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38" y="2424228"/>
            <a:ext cx="6868361" cy="2721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Weather Overlay On The Final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Sharpe uplift after applying weather-prediction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30352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 raw portfolio weights were held fixed.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Then the three crop-health forecast tiers were applied as regime overlays.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This </a:t>
            </a:r>
            <a:r>
              <a:rPr b="1" dirty="0"/>
              <a:t>isolates the value of weather-model skill </a:t>
            </a:r>
            <a:r>
              <a:rPr dirty="0"/>
              <a:t>from the value of raw strategy diversification.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Only the advanced</a:t>
            </a:r>
            <a:r>
              <a:rPr lang="en-US" dirty="0"/>
              <a:t>(45d)</a:t>
            </a:r>
            <a:r>
              <a:rPr dirty="0"/>
              <a:t> lead materially improved the final portfolio.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 err="1"/>
              <a:t>combo_raw_optimal</a:t>
            </a:r>
            <a:r>
              <a:rPr dirty="0"/>
              <a:t>: Sharpe 0.6343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basic: </a:t>
            </a:r>
            <a:r>
              <a:rPr lang="en-US" dirty="0"/>
              <a:t>		</a:t>
            </a:r>
            <a:r>
              <a:rPr dirty="0"/>
              <a:t>0.6245 | uplift -0.0098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b="1" dirty="0"/>
              <a:t>advanced: </a:t>
            </a:r>
            <a:r>
              <a:rPr lang="en-US" b="1" dirty="0"/>
              <a:t>	</a:t>
            </a:r>
            <a:r>
              <a:rPr b="1" dirty="0"/>
              <a:t>0.7829 | uplift +0.1486</a:t>
            </a:r>
          </a:p>
          <a:p>
            <a:pPr lvl="1"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expert: </a:t>
            </a:r>
            <a:r>
              <a:rPr lang="en-US" dirty="0"/>
              <a:t>		</a:t>
            </a:r>
            <a:r>
              <a:rPr dirty="0"/>
              <a:t>0.6225 | uplift -0.0118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394960" cy="20508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Final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What the project suggests about real-world crop-futures trading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84" y="1742440"/>
            <a:ext cx="6790236" cy="337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188720"/>
            <a:ext cx="429768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r>
              <a:rPr dirty="0"/>
              <a:t>A diversified systematic portfolio was the main source of performance improvement.</a:t>
            </a:r>
            <a:endParaRPr lang="en-US" dirty="0"/>
          </a:p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NASA vegetation data only became useful after seasonal adjustment and crop-calendar filtering.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The best result came from medium-horizon crop-health foresight, not from very short or very long leads.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rPr dirty="0"/>
              <a:t>Economic reading: sub-seasonal weather-model skill appears more actionable than either near-term weather or very long-range seasonal guessing.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3F1E"/>
          </a:solidFill>
          <a:ln>
            <a:solidFill>
              <a:srgbClr val="1D3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911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DFEBDF"/>
                </a:solidFill>
                <a:latin typeface="Aptos"/>
              </a:rPr>
              <a:t>Academic interpretation and realistic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78992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  <a:latin typeface="Aptos"/>
              </a:defRPr>
            </a:pPr>
            <a:r>
              <a:rPr dirty="0"/>
              <a:t>The NDVI lead tests are oracle-style benchmarks, not directly tradable forecasts.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Transaction costs, slippage, and margin constraints are not modeled.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The project uses NDVI only; soil moisture, temperature, and precipitation could extend the framework.</a:t>
            </a:r>
            <a:endParaRPr lang="en-US"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dirty="0"/>
              <a:t>Future work: replace oracle NDVI leads with explicit weather-model features and test true out-of-sample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823</Words>
  <Application>Microsoft Macintosh PowerPoint</Application>
  <PresentationFormat>Widescreen</PresentationFormat>
  <Paragraphs>156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Lawrence</cp:lastModifiedBy>
  <cp:revision>15</cp:revision>
  <dcterms:created xsi:type="dcterms:W3CDTF">2013-01-27T09:14:16Z</dcterms:created>
  <dcterms:modified xsi:type="dcterms:W3CDTF">2026-04-30T22:22:17Z</dcterms:modified>
  <cp:category/>
</cp:coreProperties>
</file>