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68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656"/>
    <p:restoredTop sz="94694"/>
  </p:normalViewPr>
  <p:slideViewPr>
    <p:cSldViewPr snapToGrid="0" snapToObjects="1">
      <p:cViewPr varScale="1">
        <p:scale>
          <a:sx n="187" d="100"/>
          <a:sy n="187" d="100"/>
        </p:scale>
        <p:origin x="592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A7D5CE-50B6-5D47-A465-339437846058}" type="datetimeFigureOut">
              <a:rPr lang="en-US" smtClean="0"/>
              <a:t>4/30/26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0961E9-238E-6E4A-A152-FD46650BE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504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0961E9-238E-6E4A-A152-FD46650BEEE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59276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jpe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D3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822960"/>
            <a:ext cx="164592" cy="4526280"/>
          </a:xfrm>
          <a:prstGeom prst="rect">
            <a:avLst/>
          </a:prstGeom>
          <a:solidFill>
            <a:srgbClr val="B89137"/>
          </a:solidFill>
          <a:ln>
            <a:solidFill>
              <a:srgbClr val="B891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60120" y="914400"/>
            <a:ext cx="9875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 Display"/>
              </a:rPr>
              <a:t>Agricultural Futures
Final Project</a:t>
            </a:r>
          </a:p>
          <a:p>
            <a:pPr>
              <a:spcBef>
                <a:spcPts val="1200"/>
              </a:spcBef>
            </a:pPr>
            <a:r>
              <a:rPr sz="1700">
                <a:solidFill>
                  <a:srgbClr val="E2ECE2"/>
                </a:solidFill>
                <a:latin typeface="Aptos"/>
              </a:rPr>
              <a:t>Systematic corn-futures trading with technical strategy diversification
and crop-health regime overlays from NASA vegetation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" y="5349240"/>
            <a:ext cx="96012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FFFFFF"/>
                </a:solidFill>
                <a:latin typeface="Aptos"/>
              </a:rPr>
              <a:t>Robo Advisors and Systematic Trading</a:t>
            </a:r>
          </a:p>
          <a:p>
            <a:r>
              <a:rPr sz="1500">
                <a:solidFill>
                  <a:srgbClr val="DFEBDF"/>
                </a:solidFill>
                <a:latin typeface="Aptos"/>
              </a:rPr>
              <a:t>James Lawrence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2C5F2D"/>
          </a:solidFill>
          <a:ln>
            <a:solidFill>
              <a:srgbClr val="2C5F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D3F1E"/>
          </a:solidFill>
          <a:ln>
            <a:solidFill>
              <a:srgbClr val="1D3F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8686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ptos Display"/>
              </a:rPr>
              <a:t>Project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69112"/>
            <a:ext cx="96012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FEBDF"/>
                </a:solidFill>
                <a:latin typeface="Aptos"/>
              </a:rPr>
              <a:t>Motivation and hypothesis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789920" cy="3713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  <a:latin typeface="Aptos"/>
              </a:defRPr>
            </a:pPr>
            <a:r>
              <a:rPr dirty="0"/>
              <a:t>Goal: maximize risk-adjusted performance trading agricultural futures.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  <a:latin typeface="Aptos"/>
              </a:defRPr>
            </a:pPr>
            <a:endParaRPr lang="en-US" dirty="0"/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  <a:latin typeface="Aptos"/>
              </a:defRPr>
            </a:pPr>
            <a:r>
              <a:rPr dirty="0"/>
              <a:t>Primary market: corn futures, with wheat futures used for a relative-value pairs sleeve.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  <a:latin typeface="Aptos"/>
              </a:defRPr>
            </a:pPr>
            <a:endParaRPr lang="en-US" dirty="0"/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  <a:latin typeface="Aptos"/>
              </a:defRPr>
            </a:pPr>
            <a:r>
              <a:rPr dirty="0"/>
              <a:t>Core question: </a:t>
            </a:r>
            <a:r>
              <a:rPr lang="en-US" dirty="0"/>
              <a:t>c</a:t>
            </a:r>
            <a:r>
              <a:rPr dirty="0"/>
              <a:t>an crop-health information improve a diversified systematic strategy portfolio?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  <a:latin typeface="Aptos"/>
              </a:defRPr>
            </a:pPr>
            <a:endParaRPr lang="en-US" dirty="0"/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  <a:latin typeface="Aptos"/>
              </a:defRPr>
            </a:pPr>
            <a:r>
              <a:rPr dirty="0"/>
              <a:t>Method:</a:t>
            </a:r>
            <a:endParaRPr lang="en-US" dirty="0"/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  <a:latin typeface="Aptos"/>
              </a:defRPr>
            </a:pPr>
            <a:r>
              <a:rPr lang="en-US" dirty="0"/>
              <a:t>	B</a:t>
            </a:r>
            <a:r>
              <a:rPr dirty="0"/>
              <a:t>uild raw technical sleeves first, then test whether realistic weather-forecast skill adds value.</a:t>
            </a:r>
            <a:endParaRPr lang="en-US" dirty="0"/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  <a:latin typeface="Aptos"/>
              </a:defRPr>
            </a:pPr>
            <a:r>
              <a:rPr lang="en-US" dirty="0"/>
              <a:t>	Leverage modern toolset for rapid development</a:t>
            </a:r>
            <a:endParaRPr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5524F4E-CC77-BA83-A380-EB8BAC8E7461}"/>
              </a:ext>
            </a:extLst>
          </p:cNvPr>
          <p:cNvGrpSpPr/>
          <p:nvPr/>
        </p:nvGrpSpPr>
        <p:grpSpPr>
          <a:xfrm>
            <a:off x="7125746" y="4359560"/>
            <a:ext cx="2654151" cy="2029328"/>
            <a:chOff x="3139397" y="4683988"/>
            <a:chExt cx="2286940" cy="1802223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764533CA-6E63-400B-75EF-39D387A5601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6372"/>
            <a:stretch/>
          </p:blipFill>
          <p:spPr>
            <a:xfrm>
              <a:off x="3609886" y="4683988"/>
              <a:ext cx="1345963" cy="1280369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2057D9BB-348A-2DA0-838F-BFA371DA5BC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/>
          </p:blipFill>
          <p:spPr>
            <a:xfrm>
              <a:off x="4854604" y="4783701"/>
              <a:ext cx="571733" cy="536994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BFBAACC9-6960-FB37-3F4F-B6DE6D24A89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950622" y="5879515"/>
              <a:ext cx="643072" cy="606696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CB6BD63D-D9E0-55FE-6598-10108496EB9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139397" y="4719619"/>
              <a:ext cx="571733" cy="625357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A301C1-C9FA-B5E7-A7AA-79F8136250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5675B6C-F817-8563-523B-7C028AF526F3}"/>
              </a:ext>
            </a:extLst>
          </p:cNvPr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2C5F2D"/>
          </a:solidFill>
          <a:ln>
            <a:solidFill>
              <a:srgbClr val="2C5F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9663F2B-B442-1875-4AE7-2885562C9A68}"/>
              </a:ext>
            </a:extLst>
          </p:cNvPr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D3F1E"/>
          </a:solidFill>
          <a:ln>
            <a:solidFill>
              <a:srgbClr val="1D3F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EB3CA3-D48E-2EFE-7DC8-3EBC908BDEA2}"/>
              </a:ext>
            </a:extLst>
          </p:cNvPr>
          <p:cNvSpPr txBox="1"/>
          <p:nvPr/>
        </p:nvSpPr>
        <p:spPr>
          <a:xfrm>
            <a:off x="411480" y="109728"/>
            <a:ext cx="2580515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600" b="1" dirty="0">
                <a:solidFill>
                  <a:srgbClr val="FFFFFF"/>
                </a:solidFill>
                <a:latin typeface="Aptos Display"/>
              </a:rPr>
              <a:t>Agricultural Data</a:t>
            </a:r>
            <a:endParaRPr sz="2600" b="1" dirty="0">
              <a:solidFill>
                <a:srgbClr val="FFFFFF"/>
              </a:solidFill>
              <a:latin typeface="Aptos Display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516B73-0216-E14A-17EF-3274B2D94284}"/>
              </a:ext>
            </a:extLst>
          </p:cNvPr>
          <p:cNvSpPr txBox="1"/>
          <p:nvPr/>
        </p:nvSpPr>
        <p:spPr>
          <a:xfrm>
            <a:off x="411480" y="467712"/>
            <a:ext cx="360868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1100" dirty="0">
                <a:solidFill>
                  <a:srgbClr val="DFEBDF"/>
                </a:solidFill>
                <a:latin typeface="Aptos"/>
              </a:rPr>
              <a:t>Quick look at the data sources and considerations made</a:t>
            </a:r>
            <a:endParaRPr sz="1100" dirty="0">
              <a:solidFill>
                <a:srgbClr val="DFEBDF"/>
              </a:solidFill>
              <a:latin typeface="Apto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6FCAF01-75D0-7FE3-068F-E4E5A50FCD9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9596"/>
          <a:stretch>
            <a:fillRect/>
          </a:stretch>
        </p:blipFill>
        <p:spPr>
          <a:xfrm>
            <a:off x="539727" y="1903732"/>
            <a:ext cx="5159723" cy="342368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01D4563-BA41-4ADF-4774-C1CE28FDE1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0273" y="1106287"/>
            <a:ext cx="4410382" cy="279147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6FF7579-2217-F4BB-039F-DCC5823F2D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0273" y="3974889"/>
            <a:ext cx="4410382" cy="228330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87111A9-0973-02D4-EF37-5E3BC4362B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91200" y="1543419"/>
            <a:ext cx="2127565" cy="90212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0E173D9-5541-E585-984A-0E4262D0B5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38922" y="901586"/>
            <a:ext cx="1140945" cy="1140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6361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2C5F2D"/>
          </a:solidFill>
          <a:ln>
            <a:solidFill>
              <a:srgbClr val="2C5F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D3F1E"/>
          </a:solidFill>
          <a:ln>
            <a:solidFill>
              <a:srgbClr val="1D3F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8686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ptos Display"/>
              </a:rPr>
              <a:t>Data And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69112"/>
            <a:ext cx="96012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dirty="0">
                <a:solidFill>
                  <a:srgbClr val="DFEBDF"/>
                </a:solidFill>
                <a:latin typeface="Aptos"/>
              </a:rPr>
              <a:t>Prepared caches used by the final notebook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676656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7056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tos"/>
                        </a:rPr>
                        <a:t>Dataset</a:t>
                      </a:r>
                    </a:p>
                  </a:txBody>
                  <a:tcPr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tos"/>
                        </a:rPr>
                        <a:t>Rows</a:t>
                      </a:r>
                    </a:p>
                  </a:txBody>
                  <a:tcPr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tos"/>
                        </a:rPr>
                        <a:t>Start</a:t>
                      </a:r>
                    </a:p>
                  </a:txBody>
                  <a:tcPr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tos"/>
                        </a:rPr>
                        <a:t>End</a:t>
                      </a:r>
                    </a:p>
                  </a:txBody>
                  <a:tcPr>
                    <a:solidFill>
                      <a:srgbClr val="2C5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05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22222"/>
                          </a:solidFill>
                          <a:latin typeface="Aptos"/>
                        </a:rPr>
                        <a:t>Corn futures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Aptos"/>
                        </a:rPr>
                        <a:t>6,452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Aptos"/>
                        </a:rPr>
                        <a:t>2000-07-17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Aptos"/>
                        </a:rPr>
                        <a:t>2026-04-30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05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22222"/>
                          </a:solidFill>
                          <a:latin typeface="Aptos"/>
                        </a:rPr>
                        <a:t>Wheat futures</a:t>
                      </a:r>
                    </a:p>
                  </a:txBody>
                  <a:tcPr>
                    <a:solidFill>
                      <a:srgbClr val="F0F4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Aptos"/>
                        </a:rPr>
                        <a:t>6,464</a:t>
                      </a:r>
                    </a:p>
                  </a:txBody>
                  <a:tcPr>
                    <a:solidFill>
                      <a:srgbClr val="F0F4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Aptos"/>
                        </a:rPr>
                        <a:t>2000-07-17</a:t>
                      </a:r>
                    </a:p>
                  </a:txBody>
                  <a:tcPr>
                    <a:solidFill>
                      <a:srgbClr val="F0F4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Aptos"/>
                        </a:rPr>
                        <a:t>2026-04-30</a:t>
                      </a:r>
                    </a:p>
                  </a:txBody>
                  <a:tcPr>
                    <a:solidFill>
                      <a:srgbClr val="F0F4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05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22222"/>
                          </a:solidFill>
                          <a:latin typeface="Aptos"/>
                        </a:rPr>
                        <a:t>NDVI daily panel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Aptos"/>
                        </a:rPr>
                        <a:t>9,546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Aptos"/>
                        </a:rPr>
                        <a:t>2000-02-18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Aptos"/>
                        </a:rPr>
                        <a:t>2026-04-07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05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22222"/>
                          </a:solidFill>
                          <a:latin typeface="Aptos"/>
                        </a:rPr>
                        <a:t>Corn + NDVI overlap</a:t>
                      </a:r>
                    </a:p>
                  </a:txBody>
                  <a:tcPr>
                    <a:solidFill>
                      <a:srgbClr val="F0F4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Aptos"/>
                        </a:rPr>
                        <a:t>6,435</a:t>
                      </a:r>
                    </a:p>
                  </a:txBody>
                  <a:tcPr>
                    <a:solidFill>
                      <a:srgbClr val="F0F4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Aptos"/>
                        </a:rPr>
                        <a:t>2000-07-17</a:t>
                      </a:r>
                    </a:p>
                  </a:txBody>
                  <a:tcPr>
                    <a:solidFill>
                      <a:srgbClr val="F0F4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Aptos"/>
                        </a:rPr>
                        <a:t>2026-04-07</a:t>
                      </a:r>
                    </a:p>
                  </a:txBody>
                  <a:tcPr>
                    <a:solidFill>
                      <a:srgbClr val="F0F4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05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22222"/>
                          </a:solidFill>
                          <a:latin typeface="Aptos"/>
                        </a:rPr>
                        <a:t>Optimization sample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Aptos"/>
                        </a:rPr>
                        <a:t>6,159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Aptos"/>
                        </a:rPr>
                        <a:t>2001-10-02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Aptos"/>
                        </a:rPr>
                        <a:t>2026-04-07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486400"/>
            <a:ext cx="110642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rgbClr val="5F5F5F"/>
                </a:solidFill>
                <a:latin typeface="Aptos"/>
              </a:rPr>
              <a:t>The optimization sample is the common NDVI-overlap window where NDVI, futures data, and all raw strategy return series are simultaneously available.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2C5F2D"/>
          </a:solidFill>
          <a:ln>
            <a:solidFill>
              <a:srgbClr val="2C5F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D3F1E"/>
          </a:solidFill>
          <a:ln>
            <a:solidFill>
              <a:srgbClr val="1D3F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8686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ptos Display"/>
              </a:rPr>
              <a:t>NASA Signal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69112"/>
            <a:ext cx="96012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FEBDF"/>
                </a:solidFill>
                <a:latin typeface="Aptos"/>
              </a:rPr>
              <a:t>Why the project moved from raw NDVI level to seasonal anomaly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664" y="864206"/>
            <a:ext cx="6583680" cy="55994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0" y="1188720"/>
            <a:ext cx="4297680" cy="4585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  <a:latin typeface="Aptos"/>
              </a:defRPr>
            </a:pPr>
            <a:r>
              <a:rPr dirty="0"/>
              <a:t>Raw NDVI level is too seasonal to trade directly.</a:t>
            </a:r>
            <a:endParaRPr lang="en-US" dirty="0"/>
          </a:p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  <a:latin typeface="Aptos"/>
              </a:defRPr>
            </a:pP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Aptos"/>
              </a:defRPr>
            </a:pPr>
            <a:r>
              <a:rPr dirty="0"/>
              <a:t>Each 16-day MODIS composite is reduced to a regional mean and </a:t>
            </a:r>
            <a:r>
              <a:rPr lang="en-US" dirty="0"/>
              <a:t>forward-filled to a daily index for alignment.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Aptos"/>
              </a:defRPr>
            </a:pP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Aptos"/>
              </a:defRPr>
            </a:pPr>
            <a:r>
              <a:rPr dirty="0"/>
              <a:t>The final signal is a seasonally adjusted anomaly: current NDVI relative to its historical norm for the same point in the crop calendar.</a:t>
            </a:r>
            <a:endParaRPr lang="en-US" dirty="0"/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Aptos"/>
              </a:defRPr>
            </a:pP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Aptos"/>
              </a:defRPr>
            </a:pPr>
            <a:r>
              <a:rPr dirty="0"/>
              <a:t>Only April through October are treated as active crop-health months.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2C5F2D"/>
          </a:solidFill>
          <a:ln>
            <a:solidFill>
              <a:srgbClr val="2C5F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D3F1E"/>
          </a:solidFill>
          <a:ln>
            <a:solidFill>
              <a:srgbClr val="1D3F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8686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ptos Display"/>
              </a:rPr>
              <a:t>Strategy Universe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69112"/>
            <a:ext cx="96012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dirty="0">
                <a:solidFill>
                  <a:srgbClr val="DFEBDF"/>
                </a:solidFill>
                <a:latin typeface="Aptos"/>
              </a:rPr>
              <a:t>Raw strategies first, weather overlay second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789920" cy="3683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  <a:latin typeface="Aptos"/>
              </a:defRPr>
            </a:pPr>
            <a:r>
              <a:rPr lang="en-US" dirty="0"/>
              <a:t>Trend sleeves: moving-average 10/30, 30/100, and 80/160.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  <a:latin typeface="Aptos"/>
              </a:defRPr>
            </a:pPr>
            <a:endParaRPr lang="en-US" dirty="0"/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  <a:latin typeface="Aptos"/>
              </a:defRPr>
            </a:pPr>
            <a:r>
              <a:rPr dirty="0"/>
              <a:t>Counter-trend sleeve: buy-the-dip rule based on prior highs and average range.</a:t>
            </a:r>
            <a:endParaRPr lang="en-US" dirty="0"/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  <a:latin typeface="Aptos"/>
              </a:defRPr>
            </a:pPr>
            <a:endParaRPr dirty="0"/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  <a:latin typeface="Aptos"/>
              </a:defRPr>
            </a:pPr>
            <a:r>
              <a:rPr dirty="0"/>
              <a:t>Volatility sleeve: switch exposure according to the current volatility regime in corn futures.</a:t>
            </a:r>
            <a:endParaRPr lang="en-US" dirty="0"/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  <a:latin typeface="Aptos"/>
              </a:defRPr>
            </a:pPr>
            <a:endParaRPr dirty="0"/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  <a:latin typeface="Aptos"/>
              </a:defRPr>
            </a:pPr>
            <a:r>
              <a:rPr dirty="0"/>
              <a:t>Pairs sleeves: 5-day, 10-day, and 20-day corn-wheat relative-value trades.</a:t>
            </a:r>
            <a:endParaRPr lang="en-US" dirty="0"/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  <a:latin typeface="Aptos"/>
              </a:defRPr>
            </a:pPr>
            <a:endParaRPr dirty="0"/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  <a:latin typeface="Aptos"/>
              </a:defRPr>
            </a:pPr>
            <a:r>
              <a:rPr dirty="0"/>
              <a:t>Weather overlay: basic 14-day, advanced 45-day, and expert 90-day crop-health lead windows.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2C5F2D"/>
          </a:solidFill>
          <a:ln>
            <a:solidFill>
              <a:srgbClr val="2C5F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D3F1E"/>
          </a:solidFill>
          <a:ln>
            <a:solidFill>
              <a:srgbClr val="1D3F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8686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ptos Display"/>
              </a:rPr>
              <a:t>Key Standalone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67712"/>
            <a:ext cx="96012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dirty="0">
                <a:solidFill>
                  <a:srgbClr val="DFEBDF"/>
                </a:solidFill>
                <a:latin typeface="Aptos"/>
              </a:rPr>
              <a:t>Standalone raw strategy sleeves on the common optimization sample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841248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tos"/>
                        </a:rPr>
                        <a:t>Sleeve</a:t>
                      </a:r>
                    </a:p>
                  </a:txBody>
                  <a:tcPr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tos"/>
                        </a:rPr>
                        <a:t>Sharpe</a:t>
                      </a:r>
                    </a:p>
                  </a:txBody>
                  <a:tcPr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tos"/>
                        </a:rPr>
                        <a:t>Cum. Return</a:t>
                      </a:r>
                    </a:p>
                  </a:txBody>
                  <a:tcPr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tos"/>
                        </a:rPr>
                        <a:t>Vol</a:t>
                      </a:r>
                    </a:p>
                  </a:txBody>
                  <a:tcPr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tos"/>
                        </a:rPr>
                        <a:t>Max DD</a:t>
                      </a:r>
                    </a:p>
                  </a:txBody>
                  <a:tcPr>
                    <a:solidFill>
                      <a:srgbClr val="2C5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4765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22222"/>
                          </a:solidFill>
                          <a:latin typeface="Aptos"/>
                        </a:rPr>
                        <a:t>vol_regime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Aptos"/>
                        </a:rPr>
                        <a:t>0.4671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Aptos"/>
                        </a:rPr>
                        <a:t>9.6234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Aptos"/>
                        </a:rPr>
                        <a:t>0.3112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Aptos"/>
                        </a:rPr>
                        <a:t>-0.5660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4765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22222"/>
                          </a:solidFill>
                          <a:latin typeface="Aptos"/>
                        </a:rPr>
                        <a:t>ma_10_30</a:t>
                      </a:r>
                    </a:p>
                  </a:txBody>
                  <a:tcPr>
                    <a:solidFill>
                      <a:srgbClr val="F0F4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Aptos"/>
                        </a:rPr>
                        <a:t>0.3698</a:t>
                      </a:r>
                    </a:p>
                  </a:txBody>
                  <a:tcPr>
                    <a:solidFill>
                      <a:srgbClr val="F0F4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Aptos"/>
                        </a:rPr>
                        <a:t>4.0804</a:t>
                      </a:r>
                    </a:p>
                  </a:txBody>
                  <a:tcPr>
                    <a:solidFill>
                      <a:srgbClr val="F0F4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Aptos"/>
                        </a:rPr>
                        <a:t>0.3112</a:t>
                      </a:r>
                    </a:p>
                  </a:txBody>
                  <a:tcPr>
                    <a:solidFill>
                      <a:srgbClr val="F0F4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Aptos"/>
                        </a:rPr>
                        <a:t>-0.4664</a:t>
                      </a:r>
                    </a:p>
                  </a:txBody>
                  <a:tcPr>
                    <a:solidFill>
                      <a:srgbClr val="F0F4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4765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22222"/>
                          </a:solidFill>
                          <a:latin typeface="Aptos"/>
                        </a:rPr>
                        <a:t>ma_80_160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Aptos"/>
                        </a:rPr>
                        <a:t>0.1728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Aptos"/>
                        </a:rPr>
                        <a:t>0.1339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Aptos"/>
                        </a:rPr>
                        <a:t>0.3113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Aptos"/>
                        </a:rPr>
                        <a:t>-0.8763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4765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22222"/>
                          </a:solidFill>
                          <a:latin typeface="Aptos"/>
                        </a:rPr>
                        <a:t>pairs_10d</a:t>
                      </a:r>
                    </a:p>
                  </a:txBody>
                  <a:tcPr>
                    <a:solidFill>
                      <a:srgbClr val="F0F4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Aptos"/>
                        </a:rPr>
                        <a:t>0.0849</a:t>
                      </a:r>
                    </a:p>
                  </a:txBody>
                  <a:tcPr>
                    <a:solidFill>
                      <a:srgbClr val="F0F4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Aptos"/>
                        </a:rPr>
                        <a:t>0.0737</a:t>
                      </a:r>
                    </a:p>
                  </a:txBody>
                  <a:tcPr>
                    <a:solidFill>
                      <a:srgbClr val="F0F4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Aptos"/>
                        </a:rPr>
                        <a:t>0.1226</a:t>
                      </a:r>
                    </a:p>
                  </a:txBody>
                  <a:tcPr>
                    <a:solidFill>
                      <a:srgbClr val="F0F4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Aptos"/>
                        </a:rPr>
                        <a:t>-0.4013</a:t>
                      </a:r>
                    </a:p>
                  </a:txBody>
                  <a:tcPr>
                    <a:solidFill>
                      <a:srgbClr val="F0F4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4765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22222"/>
                          </a:solidFill>
                          <a:latin typeface="Aptos"/>
                        </a:rPr>
                        <a:t>countertrend_p2_2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Aptos"/>
                        </a:rPr>
                        <a:t>-0.0183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Aptos"/>
                        </a:rPr>
                        <a:t>-0.4390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Aptos"/>
                        </a:rPr>
                        <a:t>0.1999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Aptos"/>
                        </a:rPr>
                        <a:t>-0.7339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7477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22222"/>
                          </a:solidFill>
                          <a:latin typeface="Aptos"/>
                        </a:rPr>
                        <a:t>ma_30_100</a:t>
                      </a:r>
                    </a:p>
                  </a:txBody>
                  <a:tcPr>
                    <a:solidFill>
                      <a:srgbClr val="F0F4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Aptos"/>
                        </a:rPr>
                        <a:t>-0.0985</a:t>
                      </a:r>
                    </a:p>
                  </a:txBody>
                  <a:tcPr>
                    <a:solidFill>
                      <a:srgbClr val="F0F4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Aptos"/>
                        </a:rPr>
                        <a:t>-0.8563</a:t>
                      </a:r>
                    </a:p>
                  </a:txBody>
                  <a:tcPr>
                    <a:solidFill>
                      <a:srgbClr val="F0F4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Aptos"/>
                        </a:rPr>
                        <a:t>0.3113</a:t>
                      </a:r>
                    </a:p>
                  </a:txBody>
                  <a:tcPr>
                    <a:solidFill>
                      <a:srgbClr val="F0F4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Aptos"/>
                        </a:rPr>
                        <a:t>-0.9389</a:t>
                      </a:r>
                    </a:p>
                  </a:txBody>
                  <a:tcPr>
                    <a:solidFill>
                      <a:srgbClr val="F0F4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486400"/>
            <a:ext cx="10881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dirty="0">
                <a:solidFill>
                  <a:srgbClr val="5F5F5F"/>
                </a:solidFill>
                <a:latin typeface="Aptos"/>
              </a:rPr>
              <a:t>Corn-wheat spread diagnostics were supportive of a pairs test: ADF statistic = -3.9752, p-value = 0.0015.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2C5F2D"/>
          </a:solidFill>
          <a:ln>
            <a:solidFill>
              <a:srgbClr val="2C5F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D3F1E"/>
          </a:solidFill>
          <a:ln>
            <a:solidFill>
              <a:srgbClr val="1D3F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8686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ptos Display"/>
              </a:rPr>
              <a:t>Why Combine Strategies?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69112"/>
            <a:ext cx="96012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dirty="0">
                <a:solidFill>
                  <a:srgbClr val="DFEBDF"/>
                </a:solidFill>
                <a:latin typeface="Aptos"/>
              </a:rPr>
              <a:t>Diversification evidence from the raw return streams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168" y="921569"/>
            <a:ext cx="6498814" cy="55635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0" y="1188720"/>
            <a:ext cx="4297680" cy="4585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  <a:latin typeface="Aptos"/>
              </a:defRPr>
            </a:pPr>
            <a:r>
              <a:rPr dirty="0"/>
              <a:t>This chart is a correlation matrix of daily raw strategy returns on the common evaluation window.</a:t>
            </a:r>
            <a:endParaRPr lang="en-US" dirty="0"/>
          </a:p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  <a:latin typeface="Aptos"/>
              </a:defRPr>
            </a:pP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Aptos"/>
              </a:defRPr>
            </a:pPr>
            <a:r>
              <a:rPr dirty="0"/>
              <a:t>Low or mildly negative correlation means two sleeves can diversify each other.</a:t>
            </a:r>
            <a:endParaRPr lang="en-US" dirty="0"/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Aptos"/>
              </a:defRPr>
            </a:pP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Aptos"/>
              </a:defRPr>
            </a:pPr>
            <a:r>
              <a:rPr dirty="0"/>
              <a:t>The pairs sleeve is largely separate from the outright corn sleeves, which makes it useful at the portfolio level.</a:t>
            </a:r>
            <a:endParaRPr lang="en-US" dirty="0"/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Aptos"/>
              </a:defRPr>
            </a:pP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Aptos"/>
              </a:defRPr>
            </a:pPr>
            <a:r>
              <a:rPr dirty="0"/>
              <a:t>This is why the project optimizes combinations of strategies instead of picking one winner.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2C5F2D"/>
          </a:solidFill>
          <a:ln>
            <a:solidFill>
              <a:srgbClr val="2C5F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D3F1E"/>
          </a:solidFill>
          <a:ln>
            <a:solidFill>
              <a:srgbClr val="1D3F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8686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ptos Display"/>
              </a:rPr>
              <a:t>Optimized Raw Combination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69112"/>
            <a:ext cx="96012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dirty="0">
                <a:solidFill>
                  <a:srgbClr val="DFEBDF"/>
                </a:solidFill>
                <a:latin typeface="Aptos"/>
              </a:rPr>
              <a:t>Efficient-frontier style search over raw strategy subsets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097280"/>
            <a:ext cx="5303520" cy="5375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Aptos"/>
              </a:defRPr>
            </a:pPr>
            <a:r>
              <a:rPr dirty="0"/>
              <a:t>The optimizer searched all non-empty subsets of the raw strategy universe and selected long-only weights that maximized annualized Sharpe.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Aptos"/>
              </a:defRPr>
            </a:pPr>
            <a:r>
              <a:rPr b="1" dirty="0"/>
              <a:t>Selected sleeves:</a:t>
            </a:r>
          </a:p>
          <a:p>
            <a:pPr lvl="1">
              <a:spcAft>
                <a:spcPts val="800"/>
              </a:spcAft>
              <a:defRPr sz="1800">
                <a:solidFill>
                  <a:srgbClr val="222222"/>
                </a:solidFill>
                <a:latin typeface="Aptos"/>
              </a:defRPr>
            </a:pPr>
            <a:r>
              <a:rPr dirty="0" err="1"/>
              <a:t>vol_regime</a:t>
            </a:r>
            <a:r>
              <a:rPr dirty="0"/>
              <a:t>: 36.71%</a:t>
            </a:r>
          </a:p>
          <a:p>
            <a:pPr lvl="1">
              <a:spcAft>
                <a:spcPts val="800"/>
              </a:spcAft>
              <a:defRPr sz="1800">
                <a:solidFill>
                  <a:srgbClr val="222222"/>
                </a:solidFill>
                <a:latin typeface="Aptos"/>
              </a:defRPr>
            </a:pPr>
            <a:r>
              <a:rPr dirty="0"/>
              <a:t>ma_10_30: 28.09%</a:t>
            </a:r>
          </a:p>
          <a:p>
            <a:pPr lvl="1">
              <a:spcAft>
                <a:spcPts val="800"/>
              </a:spcAft>
              <a:defRPr sz="1800">
                <a:solidFill>
                  <a:srgbClr val="222222"/>
                </a:solidFill>
                <a:latin typeface="Aptos"/>
              </a:defRPr>
            </a:pPr>
            <a:r>
              <a:rPr dirty="0"/>
              <a:t>pairs_10d: 18.37%</a:t>
            </a:r>
          </a:p>
          <a:p>
            <a:pPr lvl="1">
              <a:spcAft>
                <a:spcPts val="800"/>
              </a:spcAft>
              <a:defRPr sz="1800">
                <a:solidFill>
                  <a:srgbClr val="222222"/>
                </a:solidFill>
                <a:latin typeface="Aptos"/>
              </a:defRPr>
            </a:pPr>
            <a:r>
              <a:rPr dirty="0"/>
              <a:t>ma_80_160: 16.83%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Aptos"/>
              </a:defRPr>
            </a:pPr>
            <a:r>
              <a:rPr b="1" dirty="0"/>
              <a:t>Result:</a:t>
            </a:r>
            <a:endParaRPr lang="en-US" b="1" dirty="0"/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Aptos"/>
              </a:defRPr>
            </a:pPr>
            <a:r>
              <a:rPr lang="en-US" b="1" dirty="0"/>
              <a:t>	</a:t>
            </a:r>
            <a:r>
              <a:rPr dirty="0"/>
              <a:t>Sharpe 0.6343</a:t>
            </a:r>
            <a:endParaRPr lang="en-US" dirty="0"/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Aptos"/>
              </a:defRPr>
            </a:pPr>
            <a:r>
              <a:rPr lang="en-US" dirty="0"/>
              <a:t>	</a:t>
            </a:r>
            <a:r>
              <a:rPr dirty="0"/>
              <a:t>cumulative return 6.9749</a:t>
            </a:r>
            <a:endParaRPr lang="en-US" dirty="0"/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Aptos"/>
              </a:defRPr>
            </a:pPr>
            <a:r>
              <a:rPr lang="en-US" dirty="0"/>
              <a:t>	</a:t>
            </a:r>
            <a:r>
              <a:rPr dirty="0"/>
              <a:t>max drawdown -0.3605.</a:t>
            </a:r>
            <a:endParaRPr lang="en-US" dirty="0"/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Aptos"/>
              </a:defRPr>
            </a:pP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Aptos"/>
              </a:defRPr>
            </a:pPr>
            <a:r>
              <a:rPr dirty="0"/>
              <a:t>This outperformed the best raw standalone sleeve (</a:t>
            </a:r>
            <a:r>
              <a:rPr dirty="0" err="1"/>
              <a:t>vol_regime</a:t>
            </a:r>
            <a:r>
              <a:rPr dirty="0"/>
              <a:t> at 0.4671 Sharpe).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8838" y="2424228"/>
            <a:ext cx="6868361" cy="272151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2C5F2D"/>
          </a:solidFill>
          <a:ln>
            <a:solidFill>
              <a:srgbClr val="2C5F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D3F1E"/>
          </a:solidFill>
          <a:ln>
            <a:solidFill>
              <a:srgbClr val="1D3F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8686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ptos Display"/>
              </a:rPr>
              <a:t>Weather Overlay On The Final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69112"/>
            <a:ext cx="96012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dirty="0">
                <a:solidFill>
                  <a:srgbClr val="DFEBDF"/>
                </a:solidFill>
                <a:latin typeface="Aptos"/>
              </a:rPr>
              <a:t>Sharpe uplift after applying weather-prediction tiers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097280"/>
            <a:ext cx="5303520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Aptos"/>
              </a:defRPr>
            </a:pPr>
            <a:r>
              <a:rPr dirty="0"/>
              <a:t>The raw portfolio weights were held fixed.</a:t>
            </a:r>
            <a:endParaRPr lang="en-US" dirty="0"/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Aptos"/>
              </a:defRPr>
            </a:pP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Aptos"/>
              </a:defRPr>
            </a:pPr>
            <a:r>
              <a:rPr dirty="0"/>
              <a:t>Then the three crop-health forecast tiers were applied as regime overlays.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Aptos"/>
              </a:defRPr>
            </a:pPr>
            <a:r>
              <a:rPr dirty="0"/>
              <a:t>This </a:t>
            </a:r>
            <a:r>
              <a:rPr b="1" dirty="0"/>
              <a:t>isolates the value of weather-model skill </a:t>
            </a:r>
            <a:r>
              <a:rPr dirty="0"/>
              <a:t>from the value of raw strategy diversification.</a:t>
            </a:r>
            <a:endParaRPr lang="en-US" dirty="0"/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Aptos"/>
              </a:defRPr>
            </a:pP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Aptos"/>
              </a:defRPr>
            </a:pPr>
            <a:r>
              <a:rPr dirty="0"/>
              <a:t>Only the advanced</a:t>
            </a:r>
            <a:r>
              <a:rPr lang="en-US" dirty="0"/>
              <a:t>(45d)</a:t>
            </a:r>
            <a:r>
              <a:rPr dirty="0"/>
              <a:t> lead materially improved the final portfolio.</a:t>
            </a:r>
          </a:p>
          <a:p>
            <a:pPr lvl="1">
              <a:spcAft>
                <a:spcPts val="800"/>
              </a:spcAft>
              <a:defRPr sz="1800">
                <a:solidFill>
                  <a:srgbClr val="222222"/>
                </a:solidFill>
                <a:latin typeface="Aptos"/>
              </a:defRPr>
            </a:pPr>
            <a:r>
              <a:rPr dirty="0" err="1"/>
              <a:t>combo_raw_optimal</a:t>
            </a:r>
            <a:r>
              <a:rPr dirty="0"/>
              <a:t>: Sharpe 0.6343</a:t>
            </a:r>
          </a:p>
          <a:p>
            <a:pPr lvl="1">
              <a:spcAft>
                <a:spcPts val="800"/>
              </a:spcAft>
              <a:defRPr sz="1800">
                <a:solidFill>
                  <a:srgbClr val="222222"/>
                </a:solidFill>
                <a:latin typeface="Aptos"/>
              </a:defRPr>
            </a:pPr>
            <a:r>
              <a:rPr dirty="0"/>
              <a:t>basic: </a:t>
            </a:r>
            <a:r>
              <a:rPr lang="en-US" dirty="0"/>
              <a:t>		</a:t>
            </a:r>
            <a:r>
              <a:rPr dirty="0"/>
              <a:t>0.6245 | uplift -0.0098</a:t>
            </a:r>
          </a:p>
          <a:p>
            <a:pPr lvl="1">
              <a:spcAft>
                <a:spcPts val="800"/>
              </a:spcAft>
              <a:defRPr sz="1800">
                <a:solidFill>
                  <a:srgbClr val="222222"/>
                </a:solidFill>
                <a:latin typeface="Aptos"/>
              </a:defRPr>
            </a:pPr>
            <a:r>
              <a:rPr b="1" dirty="0"/>
              <a:t>advanced: </a:t>
            </a:r>
            <a:r>
              <a:rPr lang="en-US" b="1" dirty="0"/>
              <a:t>	</a:t>
            </a:r>
            <a:r>
              <a:rPr b="1" dirty="0"/>
              <a:t>0.7829 | uplift +0.1486</a:t>
            </a:r>
          </a:p>
          <a:p>
            <a:pPr lvl="1">
              <a:spcAft>
                <a:spcPts val="800"/>
              </a:spcAft>
              <a:defRPr sz="1800">
                <a:solidFill>
                  <a:srgbClr val="222222"/>
                </a:solidFill>
                <a:latin typeface="Aptos"/>
              </a:defRPr>
            </a:pPr>
            <a:r>
              <a:rPr dirty="0"/>
              <a:t>expert: </a:t>
            </a:r>
            <a:r>
              <a:rPr lang="en-US" dirty="0"/>
              <a:t>		</a:t>
            </a:r>
            <a:r>
              <a:rPr dirty="0"/>
              <a:t>0.6225 | uplift -0.0118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325880"/>
            <a:ext cx="5394960" cy="205083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2C5F2D"/>
          </a:solidFill>
          <a:ln>
            <a:solidFill>
              <a:srgbClr val="2C5F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D3F1E"/>
          </a:solidFill>
          <a:ln>
            <a:solidFill>
              <a:srgbClr val="1D3F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8686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ptos Display"/>
              </a:rPr>
              <a:t>Final Interpretation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69112"/>
            <a:ext cx="96012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dirty="0">
                <a:solidFill>
                  <a:srgbClr val="DFEBDF"/>
                </a:solidFill>
                <a:latin typeface="Aptos"/>
              </a:rPr>
              <a:t>What the project suggests about real-world crop-futures trading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084" y="1742440"/>
            <a:ext cx="6790236" cy="3373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0" y="1188720"/>
            <a:ext cx="4297680" cy="5139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  <a:latin typeface="Aptos"/>
              </a:defRPr>
            </a:pPr>
            <a:r>
              <a:rPr dirty="0"/>
              <a:t>A diversified systematic portfolio was the main source of performance improvement.</a:t>
            </a:r>
            <a:endParaRPr lang="en-US" dirty="0"/>
          </a:p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  <a:latin typeface="Aptos"/>
              </a:defRPr>
            </a:pP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Aptos"/>
              </a:defRPr>
            </a:pPr>
            <a:r>
              <a:rPr dirty="0"/>
              <a:t>NASA vegetation data only became useful after seasonal adjustment and crop-calendar filtering.</a:t>
            </a:r>
            <a:endParaRPr lang="en-US" dirty="0"/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Aptos"/>
              </a:defRPr>
            </a:pP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Aptos"/>
              </a:defRPr>
            </a:pPr>
            <a:r>
              <a:rPr dirty="0"/>
              <a:t>The best result came from medium-horizon crop-health foresight, not from very short or very long leads.</a:t>
            </a:r>
            <a:endParaRPr lang="en-US" dirty="0"/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Aptos"/>
              </a:defRPr>
            </a:pP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Aptos"/>
              </a:defRPr>
            </a:pPr>
            <a:r>
              <a:rPr dirty="0"/>
              <a:t>Economic reading: sub-seasonal weather-model skill appears more actionable than either near-term weather or very long-range seasonal guessing.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2C5F2D"/>
          </a:solidFill>
          <a:ln>
            <a:solidFill>
              <a:srgbClr val="2C5F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D3F1E"/>
          </a:solidFill>
          <a:ln>
            <a:solidFill>
              <a:srgbClr val="1D3F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8686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ptos Display"/>
              </a:rPr>
              <a:t>Limitations And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69112"/>
            <a:ext cx="96012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dirty="0">
                <a:solidFill>
                  <a:srgbClr val="DFEBDF"/>
                </a:solidFill>
                <a:latin typeface="Aptos"/>
              </a:rPr>
              <a:t>Academic interpretation and realistic extensions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789920" cy="3508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  <a:latin typeface="Aptos"/>
              </a:defRPr>
            </a:pPr>
            <a:r>
              <a:rPr dirty="0"/>
              <a:t>The NDVI lead tests are oracle-style benchmarks, not directly tradable forecasts.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  <a:latin typeface="Aptos"/>
              </a:defRPr>
            </a:pPr>
            <a:endParaRPr lang="en-US" dirty="0"/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  <a:latin typeface="Aptos"/>
              </a:defRPr>
            </a:pPr>
            <a:r>
              <a:rPr dirty="0"/>
              <a:t>Transaction costs, slippage, and margin constraints are not modeled.</a:t>
            </a:r>
            <a:endParaRPr lang="en-US" dirty="0"/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  <a:latin typeface="Aptos"/>
              </a:defRPr>
            </a:pPr>
            <a:endParaRPr dirty="0"/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  <a:latin typeface="Aptos"/>
              </a:defRPr>
            </a:pPr>
            <a:r>
              <a:rPr dirty="0"/>
              <a:t>The project uses NDVI only; soil moisture, temperature, and precipitation could extend the framework.</a:t>
            </a:r>
            <a:endParaRPr lang="en-US" dirty="0"/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  <a:latin typeface="Aptos"/>
              </a:defRPr>
            </a:pPr>
            <a:endParaRPr dirty="0"/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  <a:latin typeface="Aptos"/>
              </a:defRPr>
            </a:pPr>
            <a:r>
              <a:rPr dirty="0"/>
              <a:t>Future work: replace oracle NDVI leads with explicit weather-model features and test true out-of-sample forecasting.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</TotalTime>
  <Words>823</Words>
  <Application>Microsoft Macintosh PowerPoint</Application>
  <PresentationFormat>Widescreen</PresentationFormat>
  <Paragraphs>156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James Lawrence</cp:lastModifiedBy>
  <cp:revision>15</cp:revision>
  <dcterms:created xsi:type="dcterms:W3CDTF">2013-01-27T09:14:16Z</dcterms:created>
  <dcterms:modified xsi:type="dcterms:W3CDTF">2026-05-01T00:31:54Z</dcterms:modified>
  <cp:category/>
</cp:coreProperties>
</file>